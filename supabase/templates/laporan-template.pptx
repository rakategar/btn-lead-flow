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1640EA-6A9D-4F5F-923E-21C79E69A438}">
  <a:tblStyle styleId="{E21640EA-6A9D-4F5F-923E-21C79E69A4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412480" y="0"/>
            <a:ext cx="731520" cy="164592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228600"/>
            <a:ext cx="1280160" cy="4572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65760" y="2286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BTN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65760" y="100584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65760" y="114300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Laporan Performa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Penjualan Mingguan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Banking Sales Command Center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3337560"/>
            <a:ext cx="8412480" cy="118872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 Leader  </a:t>
            </a:r>
            <a:r>
              <a:rPr b="1" i="0" lang="en-US" sz="13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Periode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[PERIODE_LAPORAN]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4069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Tanggal Generate 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[TANGGAL_GENERATE]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72000" y="37490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Didukung oleh Kerangka A.C.T — Action · Control · Track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INDIKATOR KINERJA UTAMA (KPI)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6400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74320" y="640080"/>
            <a:ext cx="54864" cy="13716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84048" y="6949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Lead Tim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84048" y="1051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[TOTAL_LEAD]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450592" y="6400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450592" y="640080"/>
            <a:ext cx="54864" cy="13716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560320" y="6949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60320" y="1051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[CONVERSION_RATE]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26864" y="6400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626864" y="640080"/>
            <a:ext cx="54864" cy="13716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736592" y="6949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Gap ke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36592" y="1051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[GAP_TARGET]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03136" y="6400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803136" y="640080"/>
            <a:ext cx="54864" cy="137160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912864" y="6949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Lead Prioritas Tinggi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912864" y="1051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[LEAD_PRIORITAS]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74320" y="2148840"/>
            <a:ext cx="1645920" cy="32004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74320" y="21488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[STATUS_KPI]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2103120"/>
            <a:ext cx="67665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274320" y="2514600"/>
            <a:ext cx="1645920" cy="233172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74320" y="3017520"/>
            <a:ext cx="1645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MTD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Aktual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 AKTIVITAS HARIAN PER 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" name="Google Shape;65;p5"/>
          <p:cNvGraphicFramePr/>
          <p:nvPr/>
        </p:nvGraphicFramePr>
        <p:xfrm>
          <a:off x="274320" y="640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{E21640EA-6A9D-4F5F-923E-21C79E69A438}</a:tableStyleId>
              </a:tblPr>
              <a:tblGrid>
                <a:gridCol w="2011675"/>
                <a:gridCol w="1463050"/>
                <a:gridCol w="1463050"/>
                <a:gridCol w="1371600"/>
                <a:gridCol w="137160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Nama RM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Prospecting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Follow-Up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Meeting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Closing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</a:rPr>
                        <a:t>[RM1_NAMA]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[RM1_PROSPECTING]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[RM1_FOLLOWUP]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[RM1_MEETING]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[RM1_CLOSING]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</a:rPr>
                        <a:t>[RM1_STATUS]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</a:rPr>
                        <a:t>[RM2_NAMA]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[RM2_PROSPECTING]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[RM2_FOLLOWUP]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[RM2_MEETING]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[RM2_CLOSING]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</a:rPr>
                        <a:t>[RM2_STATUS]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</a:rPr>
                        <a:t>[RM3_NAMA]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[RM3_PROSPECTING]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[RM3_FOLLOWUP]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[RM3_MEETING]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</a:rPr>
                        <a:t>[RM3_CLOSING]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</a:rPr>
                        <a:t>[RM3_STATUS]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pic>
        <p:nvPicPr>
          <p:cNvPr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148840"/>
            <a:ext cx="56692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6126480" y="2148840"/>
            <a:ext cx="2743200" cy="123444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126480" y="2148840"/>
            <a:ext cx="54864" cy="12344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⭐ TOP PERFORMER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263640" y="2468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[TOP_PERFORMER_NAMA]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263640" y="27432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[TOP_PERFORMER_DESC]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3520440"/>
            <a:ext cx="2743200" cy="1234440"/>
          </a:xfrm>
          <a:prstGeom prst="rect">
            <a:avLst/>
          </a:prstGeom>
          <a:solidFill>
            <a:srgbClr val="FFF5F5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126480" y="3520440"/>
            <a:ext cx="54864" cy="123444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63640" y="3566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⚠ PERLU PERHATIAN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63640" y="3840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[NEED_ATTENTION_NAMA]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63640" y="4114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[NEED_ATTENTION_DESC]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DAN PELACAKAN PROGRES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40080"/>
            <a:ext cx="5303520" cy="420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640080"/>
            <a:ext cx="3200400" cy="29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669280" y="3749040"/>
            <a:ext cx="3200400" cy="100584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0" y="3749040"/>
            <a:ext cx="54864" cy="100584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806440" y="37947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Follow-Up Jatuh Tempo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806440" y="40690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[JUMLAH_FOLLOWUP_DUE] lead perlu tindakan segera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EFEKTIVITAS MANAJEMEN AKTIVITAS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594360"/>
            <a:ext cx="2834700" cy="21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960120" y="118872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78%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4680" y="594360"/>
            <a:ext cx="283464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3931920" y="118872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594360"/>
            <a:ext cx="283464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6903720" y="118872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82880" y="2834640"/>
            <a:ext cx="8778240" cy="64008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82880" y="283464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Skor Efektivitas Keseluruhan: 72%  —  Tren: [TREN_EFEKTIVITAS]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" y="3611880"/>
            <a:ext cx="8778240" cy="141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 PERINGATAN DINI &amp; COACHING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594360"/>
            <a:ext cx="45720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4937760" y="640080"/>
            <a:ext cx="4023360" cy="109728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937760" y="640080"/>
            <a:ext cx="54864" cy="109728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5074920" y="685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⚠ Peringatan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074920" y="96012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[PERINGATAN_1_DESC]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937760" y="1874520"/>
            <a:ext cx="4023360" cy="109728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937760" y="1874520"/>
            <a:ext cx="54864" cy="109728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5074920" y="19202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⚠ Peringatan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74920" y="219456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[PERINGATAN_2_DESC]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937760" y="3108960"/>
            <a:ext cx="4023360" cy="178308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937760" y="3108960"/>
            <a:ext cx="54864" cy="178308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074920" y="3154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🎯 Prioritas Coaching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074920" y="34747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Perlu Remedial: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[REMEDIAL_NAMA] ([REMEDIAL_TOPIK])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074920" y="37947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Fokus Coaching: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[COACHING_FOKUS]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74920" y="4434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Gap Alignment: </a:t>
            </a:r>
            <a:r>
              <a:rPr b="0" i="0" lang="en-US" sz="1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[GAP_ALIGNMENT] area perlu sinkronisasi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RENCANA AKSI MINGGU DEPAN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74320" y="685800"/>
            <a:ext cx="5669280" cy="118872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274320" y="685800"/>
            <a:ext cx="54864" cy="118872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11480" y="777240"/>
            <a:ext cx="1097280" cy="256032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411480" y="777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Prioritas 1 — TINGGI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600200" y="7589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[AKSI_1]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600200" y="11887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PIC: [PIC_1]  |  Tenggat: [DEADLINE_1]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74320" y="2011680"/>
            <a:ext cx="5669280" cy="118872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274320" y="2011680"/>
            <a:ext cx="54864" cy="1188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11480" y="2103120"/>
            <a:ext cx="1097280" cy="256032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11480" y="21031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Prioritas 2 — SEDANG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600200" y="208483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[AKSI_2]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600200" y="25146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PIC: [PIC_2]  |  Tenggat: [DEADLINE_2]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74320" y="3337560"/>
            <a:ext cx="5669280" cy="118872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274320" y="3337560"/>
            <a:ext cx="54864" cy="1188720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11480" y="3429000"/>
            <a:ext cx="1097280" cy="256032"/>
          </a:xfrm>
          <a:prstGeom prst="roundRect">
            <a:avLst>
              <a:gd fmla="val 16667" name="adj"/>
            </a:avLst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11480" y="34290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Prioritas 3 — RUTIN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600200" y="341071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[AKSI_3]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600200" y="3840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PIC: [PIC_3]  |  Tenggat: [DEADLINE_3]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685800"/>
            <a:ext cx="283464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274320" y="4663440"/>
            <a:ext cx="5669280" cy="3657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274320" y="46634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📅 Review berikutnya: [TANGGAL_REVIEW]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 HASIL — KERANGKA A.C.T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228600" y="640080"/>
            <a:ext cx="20574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228600" y="640080"/>
            <a:ext cx="2057400" cy="54864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320040" y="7132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320040" y="987552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Rp [REVENUE_AKTUAL] 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0040" y="15544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Target Rp [REVENUE_TARGET] 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441448" y="640080"/>
            <a:ext cx="20574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2441448" y="640080"/>
            <a:ext cx="2057400" cy="54864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2532888" y="7132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2532888" y="987552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[ENGAGEMENT_PERSEN]%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2532888" y="15544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Aktivitas vs ekspektasi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654296" y="640080"/>
            <a:ext cx="20574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4654296" y="640080"/>
            <a:ext cx="2057400" cy="54864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745736" y="7132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Pertumbuhan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745736" y="987552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+[GROWTH_PERSEN]%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745736" y="15544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periode sebelumnya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867144" y="640080"/>
            <a:ext cx="20574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67144" y="640080"/>
            <a:ext cx="2057400" cy="54864"/>
          </a:xfrm>
          <a:prstGeom prst="rect">
            <a:avLst/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958584" y="7132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958584" y="987552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[LEADERSHIP_STATUS]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958584" y="15544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[COACHING_TERPENUHI]/[TOTAL_RM] RM di-review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103120"/>
            <a:ext cx="8686800" cy="28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RINGKASAN EKSEKUTIF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[NAMA_SALES_LEADER]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274320" y="685800"/>
            <a:ext cx="5120640" cy="8229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320040" y="86868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32004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914400" y="77724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[RINGKASAN_1]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74320" y="1645920"/>
            <a:ext cx="5120640" cy="8229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320040" y="182880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320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14400" y="17373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[RINGKASAN_2]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74320" y="2606040"/>
            <a:ext cx="5120640" cy="822960"/>
          </a:xfrm>
          <a:prstGeom prst="rect">
            <a:avLst/>
          </a:prstGeom>
          <a:solidFill>
            <a:srgbClr val="F8FAFF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320040" y="278892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0033CC"/>
          </a:solidFill>
          <a:ln cap="flat" cmpd="sng" w="127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2004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914400" y="269748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[RINGKASAN_3]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74320" y="3657600"/>
            <a:ext cx="2468880" cy="128016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1148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Pencapaian Terbaik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11480" y="400507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[HIGHLIGHT_POSITIF]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926080" y="3657600"/>
            <a:ext cx="2468880" cy="12801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2926080" y="3657600"/>
            <a:ext cx="54864" cy="128016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06324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🎯 Area Fokus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063240" y="400507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[AREA_FOKUS]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577840" y="640080"/>
            <a:ext cx="3383280" cy="4297680"/>
          </a:xfrm>
          <a:prstGeom prst="rect">
            <a:avLst/>
          </a:prstGeom>
          <a:solidFill>
            <a:srgbClr val="001A80"/>
          </a:solidFill>
          <a:ln cap="flat" cmpd="sng" w="12700">
            <a:solidFill>
              <a:srgbClr val="001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577840" y="640080"/>
            <a:ext cx="3383280" cy="73152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669280" y="1371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669280" y="219456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Terima kasih atas dedikasi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dan kerja keras seluruh tim.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1"/>
          <p:cNvCxnSpPr/>
          <p:nvPr/>
        </p:nvCxnSpPr>
        <p:spPr>
          <a:xfrm>
            <a:off x="5943600" y="3383280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334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1"/>
          <p:cNvSpPr/>
          <p:nvPr/>
        </p:nvSpPr>
        <p:spPr>
          <a:xfrm>
            <a:off x="5669280" y="3520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BTN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669280" y="39776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D"/>
                </a:solidFill>
                <a:latin typeface="Calibri"/>
                <a:ea typeface="Calibri"/>
                <a:cs typeface="Calibri"/>
                <a:sym typeface="Calibri"/>
              </a:rPr>
              <a:t>A.C.T Sales CRM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669280" y="43434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7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799"/>
                </a:solidFill>
                <a:latin typeface="Calibri"/>
                <a:ea typeface="Calibri"/>
                <a:cs typeface="Calibri"/>
                <a:sym typeface="Calibri"/>
              </a:rPr>
              <a:t>Dibuat otomatis — [TANGGAL_GENERATE]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1"/>
          <p:cNvCxnSpPr/>
          <p:nvPr/>
        </p:nvCxnSpPr>
        <p:spPr>
          <a:xfrm>
            <a:off x="274320" y="4983480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1"/>
          <p:cNvSpPr/>
          <p:nvPr/>
        </p:nvSpPr>
        <p:spPr>
          <a:xfrm>
            <a:off x="274320" y="50292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Dibuat otomatis oleh A.C.T Sales CRM — BTN  |  Data bersumber dari dashboard real-time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